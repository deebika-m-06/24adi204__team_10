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100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66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08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32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34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12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227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96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1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52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0438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67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3351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268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075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1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04D3B-AF06-4D90-8582-7DEA9303757F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AB341B6-132F-4F1A-94C6-059C772ED4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057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8CC6C3-727B-EBE4-8CA3-62B630C1A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3429000"/>
            <a:ext cx="7766936" cy="13990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/>
              <a:t>DATA SCIENCE AND VISUALIZATION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/>
            </a:r>
            <a:br>
              <a:rPr lang="en-US" sz="4800" dirty="0"/>
            </a:br>
            <a:r>
              <a:rPr lang="en-US" sz="3100" b="1" dirty="0"/>
              <a:t>SUPERMARKET LAYOUT </a:t>
            </a:r>
            <a:r>
              <a:rPr lang="en-US" sz="3100" b="1" dirty="0" smtClean="0"/>
              <a:t>OPTIMIZATION USING RETAIL SALES DATA</a:t>
            </a:r>
            <a:r>
              <a:rPr lang="en-US" sz="3100" b="1" dirty="0"/>
              <a:t/>
            </a:r>
            <a:br>
              <a:rPr lang="en-US" sz="3100" b="1" dirty="0"/>
            </a:br>
            <a:endParaRPr lang="en-IN" sz="31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3CCE508-CBF4-E16C-FD48-4F2F43CB5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828032"/>
            <a:ext cx="7766936" cy="402730"/>
          </a:xfrm>
        </p:spPr>
        <p:txBody>
          <a:bodyPr/>
          <a:lstStyle/>
          <a:p>
            <a:pPr algn="ctr"/>
            <a:r>
              <a:rPr lang="en-US" b="1" dirty="0"/>
              <a:t>COURSE CODE </a:t>
            </a:r>
            <a:r>
              <a:rPr lang="en-US" dirty="0"/>
              <a:t>: 24ADI204L </a:t>
            </a:r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019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DF464A-8476-8613-5EC3-D0720702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TEAM MEMBERS: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F435DC-B625-0F48-CB1F-6297EFFB8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25BAD006 – AKSHAYA B</a:t>
            </a:r>
          </a:p>
          <a:p>
            <a:r>
              <a:rPr lang="en-US" dirty="0">
                <a:latin typeface="+mj-lt"/>
              </a:rPr>
              <a:t>25BAD011 – ARIHARAN S</a:t>
            </a:r>
          </a:p>
          <a:p>
            <a:r>
              <a:rPr lang="en-US" dirty="0">
                <a:latin typeface="+mj-lt"/>
              </a:rPr>
              <a:t>25BAD018 – DEEBIKA M</a:t>
            </a:r>
          </a:p>
          <a:p>
            <a:r>
              <a:rPr lang="en-US" dirty="0">
                <a:latin typeface="+mj-lt"/>
              </a:rPr>
              <a:t>25BAD037 – HEMANTH 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677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C204BF-4FEC-E072-1F76-134C508A7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7FFCB8-310F-268A-122C-D3C1B14CB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590" y="1930400"/>
            <a:ext cx="7655246" cy="437737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The project analyzes retail transaction data to identify purchasing patterns, product performance, and relationships between products. </a:t>
            </a:r>
            <a:endParaRPr lang="en-US" sz="2400" dirty="0" smtClean="0">
              <a:latin typeface="+mj-lt"/>
            </a:endParaRPr>
          </a:p>
          <a:p>
            <a:r>
              <a:rPr lang="en-US" sz="2400" dirty="0" smtClean="0">
                <a:latin typeface="+mj-lt"/>
              </a:rPr>
              <a:t>These </a:t>
            </a:r>
            <a:r>
              <a:rPr lang="en-US" sz="2400" dirty="0">
                <a:latin typeface="+mj-lt"/>
              </a:rPr>
              <a:t>insights can be used to improve product placement and supermarket layout</a:t>
            </a:r>
            <a:r>
              <a:rPr lang="en-US" sz="2400" dirty="0" smtClean="0">
                <a:latin typeface="+mj-lt"/>
              </a:rPr>
              <a:t>.</a:t>
            </a:r>
          </a:p>
          <a:p>
            <a:endParaRPr lang="en-US" sz="2400" dirty="0">
              <a:latin typeface="+mj-lt"/>
            </a:endParaRPr>
          </a:p>
          <a:p>
            <a:endParaRPr lang="en-US" sz="2400" dirty="0" smtClean="0">
              <a:latin typeface="+mj-lt"/>
            </a:endParaRPr>
          </a:p>
          <a:p>
            <a:pPr marL="0" indent="0" algn="ctr">
              <a:buNone/>
            </a:pPr>
            <a:r>
              <a:rPr lang="en-US" sz="2400" b="1" dirty="0">
                <a:latin typeface="+mj-lt"/>
              </a:rPr>
              <a:t>Using data science and visualization to analyze purchase patterns and optimize store layout.</a:t>
            </a:r>
            <a:endParaRPr lang="en-IN" sz="2400" b="1" dirty="0"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D7A94C5-1A0B-A041-6670-EA70AD0E4EC0}"/>
              </a:ext>
            </a:extLst>
          </p:cNvPr>
          <p:cNvSpPr/>
          <p:nvPr/>
        </p:nvSpPr>
        <p:spPr>
          <a:xfrm>
            <a:off x="1069590" y="4653887"/>
            <a:ext cx="7655245" cy="133748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53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88FC24-7F29-1F33-A0D3-D0F7BAF0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36904"/>
          </a:xfrm>
        </p:spPr>
        <p:txBody>
          <a:bodyPr/>
          <a:lstStyle/>
          <a:p>
            <a:r>
              <a:rPr lang="en-US" b="1" dirty="0"/>
              <a:t>OBJECTIVES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34C8CB-6A9A-F7CC-9DAF-CFE4A1D08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4" y="1488613"/>
            <a:ext cx="8393878" cy="4775709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b="1" dirty="0" smtClean="0">
                <a:latin typeface="+mj-lt"/>
              </a:rPr>
              <a:t>The main objectives :</a:t>
            </a: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 </a:t>
            </a:r>
            <a:endParaRPr lang="en-US" altLang="en-US" sz="2800" dirty="0" smtClean="0">
              <a:solidFill>
                <a:schemeClr val="tx1"/>
              </a:solidFill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0" dirty="0" smtClean="0">
              <a:solidFill>
                <a:schemeClr val="tx1"/>
              </a:solidFill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Identify frequently purchased products and product categories.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Analyze customer purchasing patterns using transaction data.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Discover relationships between products using association rules.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Analyze sales performance across different categories and products.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Use purchasing insights to improve store layout and product placement</a:t>
            </a:r>
            <a:endParaRPr lang="en-US" sz="2400" b="1" dirty="0">
              <a:latin typeface="+mj-lt"/>
            </a:endParaRPr>
          </a:p>
          <a:p>
            <a:endParaRPr lang="en-US" sz="2400" b="1" dirty="0">
              <a:latin typeface="+mj-l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-323165"/>
            <a:ext cx="3930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0463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BAC29F-1B17-3AE3-E773-D8B34131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SET DESCRIPTION: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608E99-B3B9-664D-FB57-EDC826978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1" y="1801852"/>
            <a:ext cx="8177615" cy="40530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Source</a:t>
            </a:r>
            <a:r>
              <a:rPr lang="en-US" sz="2400" dirty="0">
                <a:latin typeface="+mj-lt"/>
              </a:rPr>
              <a:t>: Kaggle –  </a:t>
            </a:r>
            <a:r>
              <a:rPr lang="en-US" sz="2400" dirty="0">
                <a:latin typeface="+mj-lt"/>
              </a:rPr>
              <a:t>Retail Store Sales</a:t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Records</a:t>
            </a:r>
            <a:r>
              <a:rPr lang="en-US" sz="2400" dirty="0">
                <a:latin typeface="+mj-lt"/>
              </a:rPr>
              <a:t>: </a:t>
            </a:r>
            <a:r>
              <a:rPr lang="en-US" sz="2400" dirty="0">
                <a:latin typeface="+mj-lt"/>
              </a:rPr>
              <a:t>12,575</a:t>
            </a:r>
            <a:r>
              <a:rPr lang="en-US" sz="2400" dirty="0" smtClean="0">
                <a:latin typeface="+mj-lt"/>
              </a:rPr>
              <a:t> </a:t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Columns: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11</a:t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Purpose</a:t>
            </a:r>
            <a:r>
              <a:rPr lang="en-US" sz="2400" dirty="0">
                <a:latin typeface="+mj-lt"/>
              </a:rPr>
              <a:t>: </a:t>
            </a:r>
            <a:r>
              <a:rPr lang="en-US" sz="2400" dirty="0">
                <a:latin typeface="+mj-lt"/>
              </a:rPr>
              <a:t>To analyze retail sales and customer purchasing patterns and derive meaningful business insights from transactional data</a:t>
            </a:r>
            <a:r>
              <a:rPr lang="en-US" sz="2400" dirty="0"/>
              <a:t>.</a:t>
            </a:r>
            <a:endParaRPr lang="en-US" sz="2400" dirty="0">
              <a:latin typeface="+mj-lt"/>
            </a:endParaRPr>
          </a:p>
          <a:p>
            <a:pPr marL="0" indent="0" algn="ctr">
              <a:buNone/>
            </a:pPr>
            <a:r>
              <a:rPr lang="en-US" sz="2400" b="1" dirty="0">
                <a:latin typeface="+mj-lt"/>
              </a:rPr>
              <a:t>SOURCE :KAGGLE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8EFA247-132A-5752-485D-85FDD69653DF}"/>
              </a:ext>
            </a:extLst>
          </p:cNvPr>
          <p:cNvSpPr/>
          <p:nvPr/>
        </p:nvSpPr>
        <p:spPr>
          <a:xfrm>
            <a:off x="3316405" y="4476466"/>
            <a:ext cx="3268913" cy="6960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3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80E51A-D113-E519-6A67-6C6551539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44129"/>
            <a:ext cx="8596668" cy="1320800"/>
          </a:xfrm>
        </p:spPr>
        <p:txBody>
          <a:bodyPr/>
          <a:lstStyle/>
          <a:p>
            <a:r>
              <a:rPr lang="en-IN" b="1" dirty="0"/>
              <a:t>IMPORTANT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ACE822-B7AE-CA34-6C2A-4B29FAF8C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263" y="1327355"/>
            <a:ext cx="7947739" cy="532908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Transaction </a:t>
            </a:r>
            <a:r>
              <a:rPr lang="en-US" sz="2400" dirty="0">
                <a:latin typeface="+mj-lt"/>
              </a:rPr>
              <a:t>: Represents one customer purchase.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Items</a:t>
            </a:r>
            <a:r>
              <a:rPr lang="en-US" sz="2400" dirty="0">
                <a:latin typeface="+mj-lt"/>
              </a:rPr>
              <a:t>: Grocery products purchased together in a transaction.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Product Frequency</a:t>
            </a:r>
            <a:r>
              <a:rPr lang="en-US" sz="2400" dirty="0">
                <a:latin typeface="+mj-lt"/>
              </a:rPr>
              <a:t>: Number of transactions containing a product.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latin typeface="+mj-lt"/>
              </a:rPr>
              <a:t>Itemsets</a:t>
            </a:r>
            <a:r>
              <a:rPr lang="en-US" sz="2400" dirty="0">
                <a:latin typeface="+mj-lt"/>
              </a:rPr>
              <a:t>: Groups of products frequently purchased together.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Association Rules</a:t>
            </a:r>
            <a:r>
              <a:rPr lang="en-US" sz="2400" dirty="0">
                <a:latin typeface="+mj-lt"/>
              </a:rPr>
              <a:t>: Relationships between products.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5372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A02E63-84FD-87B6-8E70-AE2FB723A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7EACA8-63C5-FE3D-CD57-1C163FA1BD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1633" y="1769806"/>
            <a:ext cx="5304367" cy="4041366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sz="2100" b="1" dirty="0"/>
              <a:t>Data Preprocessing </a:t>
            </a:r>
            <a:r>
              <a:rPr lang="en-IN" sz="2100" dirty="0"/>
              <a:t>– Clean and split product lists into individual items.</a:t>
            </a:r>
          </a:p>
          <a:p>
            <a:pPr lvl="0"/>
            <a:r>
              <a:rPr lang="en-IN" sz="2100" b="1" dirty="0"/>
              <a:t>Outlier Handling </a:t>
            </a:r>
            <a:r>
              <a:rPr lang="en-IN" sz="2100" dirty="0"/>
              <a:t>– Identify and manage unusually large/bulk transactions.</a:t>
            </a:r>
          </a:p>
          <a:p>
            <a:pPr lvl="0"/>
            <a:r>
              <a:rPr lang="en-IN" sz="2100" b="1" dirty="0"/>
              <a:t>Exploratory Analysis </a:t>
            </a:r>
            <a:r>
              <a:rPr lang="en-IN" sz="2100" dirty="0"/>
              <a:t>– </a:t>
            </a:r>
            <a:r>
              <a:rPr lang="en-IN" sz="2100" dirty="0" err="1"/>
              <a:t>Analyze</a:t>
            </a:r>
            <a:r>
              <a:rPr lang="en-IN" sz="2100" dirty="0"/>
              <a:t> product purchase frequencies.</a:t>
            </a:r>
          </a:p>
          <a:p>
            <a:pPr lvl="0"/>
            <a:r>
              <a:rPr lang="en-IN" sz="2100" b="1" dirty="0"/>
              <a:t>Market Basket Analysis </a:t>
            </a:r>
            <a:r>
              <a:rPr lang="en-IN" sz="2100" dirty="0"/>
              <a:t>– Generate frequent </a:t>
            </a:r>
            <a:r>
              <a:rPr lang="en-IN" sz="2100" dirty="0" err="1"/>
              <a:t>itemsets</a:t>
            </a:r>
            <a:r>
              <a:rPr lang="en-IN" sz="2100" dirty="0"/>
              <a:t> using </a:t>
            </a:r>
            <a:r>
              <a:rPr lang="en-IN" sz="2100" dirty="0" err="1"/>
              <a:t>Apriori</a:t>
            </a:r>
            <a:r>
              <a:rPr lang="en-IN" sz="2100" dirty="0"/>
              <a:t>.</a:t>
            </a:r>
          </a:p>
          <a:p>
            <a:pPr lvl="0"/>
            <a:r>
              <a:rPr lang="en-IN" sz="2100" b="1" dirty="0"/>
              <a:t>Association Rules </a:t>
            </a:r>
            <a:r>
              <a:rPr lang="en-IN" sz="2100" dirty="0"/>
              <a:t>– Calculate Support, Confidence, and Lift.</a:t>
            </a:r>
          </a:p>
          <a:p>
            <a:pPr lvl="0"/>
            <a:r>
              <a:rPr lang="en-IN" sz="2100" b="1" dirty="0"/>
              <a:t>Visualization </a:t>
            </a:r>
            <a:r>
              <a:rPr lang="en-IN" sz="2100" dirty="0"/>
              <a:t>– Display frequent </a:t>
            </a:r>
            <a:r>
              <a:rPr lang="en-IN" sz="2100" dirty="0" err="1"/>
              <a:t>itemsets</a:t>
            </a:r>
            <a:r>
              <a:rPr lang="en-IN" sz="2100" dirty="0"/>
              <a:t> and strong associations.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80754E7-54EC-FF07-896D-8DF2CD37D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9123" y="1769806"/>
            <a:ext cx="3165987" cy="47096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/>
              <a:t>Tools &amp; Technologies</a:t>
            </a:r>
          </a:p>
          <a:p>
            <a:r>
              <a:rPr lang="en-IN" sz="2400" dirty="0">
                <a:latin typeface="+mj-lt"/>
              </a:rPr>
              <a:t>Python</a:t>
            </a:r>
          </a:p>
          <a:p>
            <a:r>
              <a:rPr lang="en-IN" sz="2400" dirty="0">
                <a:latin typeface="+mj-lt"/>
              </a:rPr>
              <a:t>Pandas</a:t>
            </a:r>
          </a:p>
          <a:p>
            <a:r>
              <a:rPr lang="en-IN" sz="2400" dirty="0">
                <a:latin typeface="+mj-lt"/>
              </a:rPr>
              <a:t>NumPy</a:t>
            </a:r>
          </a:p>
          <a:p>
            <a:r>
              <a:rPr lang="en-IN" sz="2400" dirty="0">
                <a:latin typeface="+mj-lt"/>
              </a:rPr>
              <a:t>Matplotlib</a:t>
            </a:r>
          </a:p>
          <a:p>
            <a:r>
              <a:rPr lang="en-IN" sz="2400" dirty="0">
                <a:latin typeface="+mj-lt"/>
              </a:rPr>
              <a:t>Seaborn</a:t>
            </a:r>
          </a:p>
        </p:txBody>
      </p:sp>
    </p:spTree>
    <p:extLst>
      <p:ext uri="{BB962C8B-B14F-4D97-AF65-F5344CB8AC3E}">
        <p14:creationId xmlns:p14="http://schemas.microsoft.com/office/powerpoint/2010/main" val="376002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CFEBC7-BBA3-2574-3AF4-4CB565F31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INSIGHTS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F94B2F-0359-54DC-955A-60C764A27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650" y="1796795"/>
            <a:ext cx="8596668" cy="3880773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Identify the most frequently purchased products.</a:t>
            </a:r>
          </a:p>
          <a:p>
            <a:pPr lvl="0"/>
            <a:r>
              <a:rPr lang="en-IN" sz="2400" dirty="0"/>
              <a:t>Discover products that are commonly bought together.</a:t>
            </a:r>
          </a:p>
          <a:p>
            <a:pPr lvl="0"/>
            <a:r>
              <a:rPr lang="en-IN" sz="2400" dirty="0"/>
              <a:t>Find strong relationships such as Bread → Butter (if supported by the data).</a:t>
            </a:r>
          </a:p>
          <a:p>
            <a:pPr lvl="0"/>
            <a:r>
              <a:rPr lang="en-IN" sz="2400" dirty="0"/>
              <a:t>Recommend product placement and cross-selling strategies.</a:t>
            </a:r>
          </a:p>
          <a:p>
            <a:pPr lvl="0"/>
            <a:r>
              <a:rPr lang="en-IN" sz="2400" dirty="0"/>
              <a:t>Understand how purchasing patterns can influence supermarket layout.</a:t>
            </a:r>
          </a:p>
        </p:txBody>
      </p:sp>
    </p:spTree>
    <p:extLst>
      <p:ext uri="{BB962C8B-B14F-4D97-AF65-F5344CB8AC3E}">
        <p14:creationId xmlns:p14="http://schemas.microsoft.com/office/powerpoint/2010/main" val="1854562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C3BA00-206B-7640-EC36-D7EB45631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SCOPE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4F3D1A-BC3A-AE5E-95F6-86644F947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299" y="1296537"/>
            <a:ext cx="7397086" cy="5227093"/>
          </a:xfrm>
        </p:spPr>
        <p:txBody>
          <a:bodyPr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+mj-l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Apply advanced algorithms such as </a:t>
            </a:r>
            <a:r>
              <a:rPr lang="en-US" altLang="en-US" sz="2400" b="1" dirty="0">
                <a:solidFill>
                  <a:schemeClr val="tx1"/>
                </a:solidFill>
                <a:latin typeface="+mj-lt"/>
              </a:rPr>
              <a:t>FP-Growth</a:t>
            </a: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 for faster association analysis.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Use customer segmentation for personalized recommendations.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Analyze seasonal and time-based purchasing patterns.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Develop personalized product recommendations.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Integrate sales and customer behavior for targeted marketing.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Develop a smart supermarket layout recommendation system.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+mj-lt"/>
              </a:rPr>
              <a:t>Build an interactive retail analytics dashboard.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08372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xmlns="" id="{BFA8A194-100C-F0DF-C0B6-1C4F427F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   CONCLUSION</a:t>
            </a:r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/>
            </a:r>
            <a:br>
              <a:rPr lang="en-IN" b="1" dirty="0"/>
            </a:br>
            <a:endParaRPr lang="en-IN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526EA065-22B4-46BB-371F-9272E6156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299" y="1542198"/>
            <a:ext cx="8045703" cy="4572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Market Basket Analysis helps identify meaningful relationships between products purchased by customers.</a:t>
            </a:r>
          </a:p>
          <a:p>
            <a:r>
              <a:rPr lang="en-US" sz="2400" dirty="0">
                <a:latin typeface="+mj-lt"/>
              </a:rPr>
              <a:t>By analyzing retail transaction data, frequently purchased products and product combinations can be identified.</a:t>
            </a:r>
          </a:p>
          <a:p>
            <a:r>
              <a:rPr lang="en-US" sz="2400" dirty="0">
                <a:latin typeface="+mj-lt"/>
              </a:rPr>
              <a:t>Association rules provide valuable insights into customer purchasing behavior and can support cross-selling and product placement strategies.</a:t>
            </a:r>
          </a:p>
          <a:p>
            <a:r>
              <a:rPr lang="en-US" sz="2400" dirty="0">
                <a:latin typeface="+mj-lt"/>
              </a:rPr>
              <a:t>These insights can help supermarkets optimize product positioning and create a more effective and customer-friendly store layout.</a:t>
            </a:r>
          </a:p>
          <a:p>
            <a:pPr lvl="0"/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34632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1F96C6-04F4-78D0-0170-A31DBE108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THANK YOU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92E37D7-93BE-FBE9-B75C-D110C66E22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9032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199</TotalTime>
  <Words>452</Words>
  <Application>Microsoft Office PowerPoint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Wingdings</vt:lpstr>
      <vt:lpstr>Wingdings 3</vt:lpstr>
      <vt:lpstr>Facet</vt:lpstr>
      <vt:lpstr>DATA SCIENCE AND VISUALIZATION  SUPERMARKET LAYOUT OPTIMIZATION USING RETAIL SALES DATA </vt:lpstr>
      <vt:lpstr>TEAM MEMBERS:</vt:lpstr>
      <vt:lpstr>PROBLEM STATEMENT:</vt:lpstr>
      <vt:lpstr>OBJECTIVES</vt:lpstr>
      <vt:lpstr>DATA SET DESCRIPTION:</vt:lpstr>
      <vt:lpstr>IMPORTANT FEATURES</vt:lpstr>
      <vt:lpstr>PROPOSED METHODOLOGY</vt:lpstr>
      <vt:lpstr>EXPECTED INSIGHTS</vt:lpstr>
      <vt:lpstr>FUTURE SCOPE</vt:lpstr>
      <vt:lpstr>    CONCLUSION 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VISUALIZATION  SUPERMARKET LAYOUT OPTIMIZATION</dc:title>
  <dc:creator>Ritika Mahalingam</dc:creator>
  <cp:lastModifiedBy>admin</cp:lastModifiedBy>
  <cp:revision>7</cp:revision>
  <dcterms:created xsi:type="dcterms:W3CDTF">2026-07-29T14:29:09Z</dcterms:created>
  <dcterms:modified xsi:type="dcterms:W3CDTF">2026-08-19T14:50:18Z</dcterms:modified>
</cp:coreProperties>
</file>