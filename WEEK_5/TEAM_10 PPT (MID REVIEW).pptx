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70" r:id="rId11"/>
    <p:sldId id="262" r:id="rId12"/>
    <p:sldId id="263" r:id="rId13"/>
    <p:sldId id="264" r:id="rId14"/>
    <p:sldId id="265" r:id="rId15"/>
    <p:sldId id="266" r:id="rId16"/>
    <p:sldId id="267" r:id="rId17"/>
    <p:sldId id="269" r:id="rId18"/>
    <p:sldId id="268" r:id="rId19"/>
  </p:sldIdLst>
  <p:sldSz cx="18288000" cy="10287000"/>
  <p:notesSz cx="6858000" cy="9144000"/>
  <p:embeddedFontLst>
    <p:embeddedFont>
      <p:font typeface="Poppins" panose="00000500000000000000" pitchFamily="2" charset="0"/>
      <p:regular r:id="rId20"/>
      <p:bold r:id="rId21"/>
      <p:italic r:id="rId22"/>
      <p:boldItalic r:id="rId23"/>
    </p:embeddedFont>
    <p:embeddedFont>
      <p:font typeface="Poppins Bold" panose="00000800000000000000" charset="0"/>
      <p:regular r:id="rId24"/>
      <p:bold r:id="rId25"/>
    </p:embeddedFont>
    <p:embeddedFont>
      <p:font typeface="Poppins Bold Italics" panose="020B0604020202020204" charset="0"/>
      <p:regular r:id="rId26"/>
    </p:embeddedFont>
    <p:embeddedFont>
      <p:font typeface="Poppins Italics" panose="020B0604020202020204" charset="0"/>
      <p:regular r:id="rId27"/>
    </p:embeddedFont>
    <p:embeddedFont>
      <p:font typeface="Times New Roman Bold" panose="02020803070505020304" pitchFamily="18" charset="0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A4C3C9-6725-4EDE-846D-EA46023481EE}" v="9" dt="2026-09-25T03:31:42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7.fntdata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ika Mahalingam" userId="da0717dabf515ad0" providerId="LiveId" clId="{72E15FEB-D2E9-41D4-A7C8-170661767523}"/>
    <pc:docChg chg="undo custSel modSld">
      <pc:chgData name="Ritika Mahalingam" userId="da0717dabf515ad0" providerId="LiveId" clId="{72E15FEB-D2E9-41D4-A7C8-170661767523}" dt="2026-09-25T03:31:42.657" v="301" actId="20577"/>
      <pc:docMkLst>
        <pc:docMk/>
      </pc:docMkLst>
      <pc:sldChg chg="modSp mod">
        <pc:chgData name="Ritika Mahalingam" userId="da0717dabf515ad0" providerId="LiveId" clId="{72E15FEB-D2E9-41D4-A7C8-170661767523}" dt="2026-09-24T15:09:05.272" v="115" actId="20577"/>
        <pc:sldMkLst>
          <pc:docMk/>
          <pc:sldMk cId="0" sldId="256"/>
        </pc:sldMkLst>
        <pc:spChg chg="mod">
          <ac:chgData name="Ritika Mahalingam" userId="da0717dabf515ad0" providerId="LiveId" clId="{72E15FEB-D2E9-41D4-A7C8-170661767523}" dt="2026-09-24T15:09:05.272" v="115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Ritika Mahalingam" userId="da0717dabf515ad0" providerId="LiveId" clId="{72E15FEB-D2E9-41D4-A7C8-170661767523}" dt="2026-09-24T15:04:41.544" v="1" actId="12"/>
        <pc:sldMkLst>
          <pc:docMk/>
          <pc:sldMk cId="0" sldId="259"/>
        </pc:sldMkLst>
        <pc:spChg chg="mod">
          <ac:chgData name="Ritika Mahalingam" userId="da0717dabf515ad0" providerId="LiveId" clId="{72E15FEB-D2E9-41D4-A7C8-170661767523}" dt="2026-09-24T15:04:41.544" v="1" actId="12"/>
          <ac:spMkLst>
            <pc:docMk/>
            <pc:sldMk cId="0" sldId="259"/>
            <ac:spMk id="8" creationId="{19E1DB79-15BB-6F2F-0375-592D6A14D9B3}"/>
          </ac:spMkLst>
        </pc:spChg>
      </pc:sldChg>
      <pc:sldChg chg="modSp mod">
        <pc:chgData name="Ritika Mahalingam" userId="da0717dabf515ad0" providerId="LiveId" clId="{72E15FEB-D2E9-41D4-A7C8-170661767523}" dt="2026-09-24T15:09:40.648" v="121" actId="20577"/>
        <pc:sldMkLst>
          <pc:docMk/>
          <pc:sldMk cId="0" sldId="263"/>
        </pc:sldMkLst>
        <pc:spChg chg="mod">
          <ac:chgData name="Ritika Mahalingam" userId="da0717dabf515ad0" providerId="LiveId" clId="{72E15FEB-D2E9-41D4-A7C8-170661767523}" dt="2026-09-24T15:09:40.648" v="121" actId="20577"/>
          <ac:spMkLst>
            <pc:docMk/>
            <pc:sldMk cId="0" sldId="263"/>
            <ac:spMk id="5" creationId="{00000000-0000-0000-0000-000000000000}"/>
          </ac:spMkLst>
        </pc:spChg>
      </pc:sldChg>
      <pc:sldChg chg="modSp mod">
        <pc:chgData name="Ritika Mahalingam" userId="da0717dabf515ad0" providerId="LiveId" clId="{72E15FEB-D2E9-41D4-A7C8-170661767523}" dt="2026-09-24T15:07:43.772" v="111" actId="14100"/>
        <pc:sldMkLst>
          <pc:docMk/>
          <pc:sldMk cId="0" sldId="264"/>
        </pc:sldMkLst>
        <pc:spChg chg="mod">
          <ac:chgData name="Ritika Mahalingam" userId="da0717dabf515ad0" providerId="LiveId" clId="{72E15FEB-D2E9-41D4-A7C8-170661767523}" dt="2026-09-24T15:07:43.772" v="111" actId="14100"/>
          <ac:spMkLst>
            <pc:docMk/>
            <pc:sldMk cId="0" sldId="264"/>
            <ac:spMk id="6" creationId="{00000000-0000-0000-0000-000000000000}"/>
          </ac:spMkLst>
        </pc:spChg>
      </pc:sldChg>
      <pc:sldChg chg="modSp mod">
        <pc:chgData name="Ritika Mahalingam" userId="da0717dabf515ad0" providerId="LiveId" clId="{72E15FEB-D2E9-41D4-A7C8-170661767523}" dt="2026-09-25T03:28:05.518" v="284" actId="2165"/>
        <pc:sldMkLst>
          <pc:docMk/>
          <pc:sldMk cId="0" sldId="265"/>
        </pc:sldMkLst>
        <pc:graphicFrameChg chg="mod modGraphic">
          <ac:chgData name="Ritika Mahalingam" userId="da0717dabf515ad0" providerId="LiveId" clId="{72E15FEB-D2E9-41D4-A7C8-170661767523}" dt="2026-09-25T03:28:05.518" v="284" actId="2165"/>
          <ac:graphicFrameMkLst>
            <pc:docMk/>
            <pc:sldMk cId="0" sldId="265"/>
            <ac:graphicFrameMk id="6" creationId="{00000000-0000-0000-0000-000000000000}"/>
          </ac:graphicFrameMkLst>
        </pc:graphicFrameChg>
      </pc:sldChg>
      <pc:sldChg chg="addSp modSp mod">
        <pc:chgData name="Ritika Mahalingam" userId="da0717dabf515ad0" providerId="LiveId" clId="{72E15FEB-D2E9-41D4-A7C8-170661767523}" dt="2026-09-25T03:31:42.657" v="301" actId="20577"/>
        <pc:sldMkLst>
          <pc:docMk/>
          <pc:sldMk cId="0" sldId="268"/>
        </pc:sldMkLst>
        <pc:spChg chg="add mod">
          <ac:chgData name="Ritika Mahalingam" userId="da0717dabf515ad0" providerId="LiveId" clId="{72E15FEB-D2E9-41D4-A7C8-170661767523}" dt="2026-09-25T03:31:42.657" v="301" actId="20577"/>
          <ac:spMkLst>
            <pc:docMk/>
            <pc:sldMk cId="0" sldId="268"/>
            <ac:spMk id="7" creationId="{32FF29ED-086D-3775-759A-FF21A5DD120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hmedmohamed2003/retail-store-sales-dirty-for-data-cleaning?utm_source=perplexity" TargetMode="External"/><Relationship Id="rId2" Type="http://schemas.openxmlformats.org/officeDocument/2006/relationships/hyperlink" Target="https://github.com/Deebika-M-06/24ADI204__TEAM_10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pandas.pydata.org/?utm_source=chatgpt.com" TargetMode="External"/><Relationship Id="rId4" Type="http://schemas.openxmlformats.org/officeDocument/2006/relationships/hyperlink" Target="https://numpy.org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8600" y="190500"/>
            <a:ext cx="1299889" cy="1278575"/>
          </a:xfrm>
          <a:custGeom>
            <a:avLst/>
            <a:gdLst/>
            <a:ahLst/>
            <a:cxnLst/>
            <a:rect l="l" t="t" r="r" b="b"/>
            <a:pathLst>
              <a:path w="2488943" h="2529537">
                <a:moveTo>
                  <a:pt x="0" y="0"/>
                </a:moveTo>
                <a:lnTo>
                  <a:pt x="2488944" y="0"/>
                </a:lnTo>
                <a:lnTo>
                  <a:pt x="2488944" y="2529538"/>
                </a:lnTo>
                <a:lnTo>
                  <a:pt x="0" y="2529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0" t="-4622" r="-22184" b="-296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5737790" y="190500"/>
            <a:ext cx="2519089" cy="945897"/>
          </a:xfrm>
          <a:custGeom>
            <a:avLst/>
            <a:gdLst/>
            <a:ahLst/>
            <a:cxnLst/>
            <a:rect l="l" t="t" r="r" b="b"/>
            <a:pathLst>
              <a:path w="4049893" h="1883200">
                <a:moveTo>
                  <a:pt x="0" y="0"/>
                </a:moveTo>
                <a:lnTo>
                  <a:pt x="4049893" y="0"/>
                </a:lnTo>
                <a:lnTo>
                  <a:pt x="4049893" y="1883200"/>
                </a:lnTo>
                <a:lnTo>
                  <a:pt x="0" y="1883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3231061" y="534627"/>
            <a:ext cx="11180668" cy="2507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6"/>
              </a:lnSpc>
            </a:pPr>
            <a:r>
              <a:rPr lang="en-US" sz="4997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Artificial Intelligence and Data Science</a:t>
            </a:r>
          </a:p>
          <a:p>
            <a:pPr algn="ctr">
              <a:lnSpc>
                <a:spcPts val="6436"/>
              </a:lnSpc>
              <a:spcBef>
                <a:spcPct val="0"/>
              </a:spcBef>
            </a:pPr>
            <a:r>
              <a:rPr lang="en-US" sz="4597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Science and Visualization</a:t>
            </a:r>
          </a:p>
          <a:p>
            <a:pPr algn="ctr">
              <a:lnSpc>
                <a:spcPts val="6436"/>
              </a:lnSpc>
              <a:spcBef>
                <a:spcPct val="0"/>
              </a:spcBef>
            </a:pPr>
            <a:r>
              <a:rPr lang="en-US" sz="4597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24ADI204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19804" y="3412505"/>
            <a:ext cx="10410901" cy="1262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85"/>
              </a:lnSpc>
            </a:pPr>
            <a:r>
              <a:rPr lang="en-US" sz="3561" b="1" dirty="0">
                <a:solidFill>
                  <a:srgbClr val="000000"/>
                </a:solidFill>
                <a:latin typeface="Times New Roman" panose="02020603050405020304" pitchFamily="18" charset="0"/>
                <a:ea typeface="Poppins Bold Italics"/>
                <a:cs typeface="Times New Roman" panose="02020603050405020304" pitchFamily="18" charset="0"/>
                <a:sym typeface="Poppins Bold Italics"/>
              </a:rPr>
              <a:t>DATA-VIZ HACK-A-BIT (2026-2027) </a:t>
            </a:r>
          </a:p>
          <a:p>
            <a:pPr algn="ctr">
              <a:lnSpc>
                <a:spcPts val="4985"/>
              </a:lnSpc>
              <a:spcBef>
                <a:spcPct val="0"/>
              </a:spcBef>
            </a:pPr>
            <a:endParaRPr lang="en-US" sz="3561" b="1" i="1" dirty="0">
              <a:solidFill>
                <a:srgbClr val="000000"/>
              </a:solidFill>
              <a:latin typeface="Poppins Bold Italics"/>
              <a:ea typeface="Poppins Bold Italics"/>
              <a:cs typeface="Poppins Bold Italics"/>
              <a:sym typeface="Poppins Bold Italic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008777" y="5507337"/>
            <a:ext cx="4887823" cy="620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67"/>
              </a:lnSpc>
              <a:spcBef>
                <a:spcPct val="0"/>
              </a:spcBef>
            </a:pPr>
            <a:r>
              <a:rPr lang="en-US" sz="3619" dirty="0">
                <a:solidFill>
                  <a:srgbClr val="00000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Team Number:  10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57800" y="4455918"/>
            <a:ext cx="632460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MID REVIEW (September 2026)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7996D00-57AD-B9A7-DE5C-7A8360DED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9804" y="6286500"/>
            <a:ext cx="9129396" cy="4000500"/>
          </a:xfrm>
        </p:spPr>
        <p:txBody>
          <a:bodyPr>
            <a:normAutofit fontScale="90000"/>
          </a:bodyPr>
          <a:lstStyle/>
          <a:p>
            <a:pPr algn="l"/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ARIHARAN S       - 25BAD011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DEEBIKA M          -25BAD018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HEMANTH M        -25BAD037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422448" y="923093"/>
            <a:ext cx="8840169" cy="118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29"/>
              </a:lnSpc>
              <a:spcBef>
                <a:spcPct val="0"/>
              </a:spcBef>
            </a:pPr>
            <a:r>
              <a:rPr lang="en-US" sz="65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 </a:t>
            </a:r>
          </a:p>
        </p:txBody>
      </p:sp>
      <p:sp>
        <p:nvSpPr>
          <p:cNvPr id="7" name="Freeform 7"/>
          <p:cNvSpPr/>
          <p:nvPr/>
        </p:nvSpPr>
        <p:spPr>
          <a:xfrm>
            <a:off x="734625" y="3363003"/>
            <a:ext cx="1906078" cy="1732798"/>
          </a:xfrm>
          <a:custGeom>
            <a:avLst/>
            <a:gdLst/>
            <a:ahLst/>
            <a:cxnLst/>
            <a:rect l="l" t="t" r="r" b="b"/>
            <a:pathLst>
              <a:path w="1906078" h="1732798">
                <a:moveTo>
                  <a:pt x="0" y="0"/>
                </a:moveTo>
                <a:lnTo>
                  <a:pt x="1906078" y="0"/>
                </a:lnTo>
                <a:lnTo>
                  <a:pt x="1906078" y="1732798"/>
                </a:lnTo>
                <a:lnTo>
                  <a:pt x="0" y="17327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BA7AA0-41B8-1C0F-0CAB-A5F66EBA534A}"/>
              </a:ext>
            </a:extLst>
          </p:cNvPr>
          <p:cNvSpPr txBox="1"/>
          <p:nvPr/>
        </p:nvSpPr>
        <p:spPr>
          <a:xfrm>
            <a:off x="2895600" y="3363004"/>
            <a:ext cx="14478000" cy="692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u="sng" dirty="0"/>
              <a:t>TO ANALYZE RETAIL SALES DATA FOR BETTER SUPERMARKET LAYOUT</a:t>
            </a:r>
          </a:p>
          <a:p>
            <a:pPr algn="ctr"/>
            <a:endParaRPr lang="en-US" sz="4000" b="1" u="sng" dirty="0">
              <a:latin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+mj-lt"/>
              </a:rPr>
              <a:t>The project analyzes retail transaction data to identify purchasing patterns, product performance, and relationships between products.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+mj-lt"/>
              </a:rPr>
              <a:t>These insights can be used to improve product placement and supermarket layout.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Using data science and visualization to analyze purchase patterns and optimize store layout.</a:t>
            </a:r>
            <a:endParaRPr lang="en-IN" sz="4000" dirty="0"/>
          </a:p>
          <a:p>
            <a:endParaRPr lang="en-US" sz="4400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422448" y="923093"/>
            <a:ext cx="8840169" cy="118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29"/>
              </a:lnSpc>
              <a:spcBef>
                <a:spcPct val="0"/>
              </a:spcBef>
            </a:pPr>
            <a:r>
              <a:rPr lang="en-US" sz="65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Objectives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60631" y="3907276"/>
            <a:ext cx="14707123" cy="505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6390" lvl="1" algn="ctr">
              <a:lnSpc>
                <a:spcPts val="4235"/>
              </a:lnSpc>
              <a:spcBef>
                <a:spcPct val="0"/>
              </a:spcBef>
            </a:pPr>
            <a:endParaRPr lang="en-US" sz="3000" dirty="0">
              <a:solidFill>
                <a:srgbClr val="545454"/>
              </a:solidFill>
              <a:ea typeface="Calibri"/>
              <a:cs typeface="Calibri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718753" y="3315304"/>
            <a:ext cx="1828196" cy="1828196"/>
          </a:xfrm>
          <a:custGeom>
            <a:avLst/>
            <a:gdLst/>
            <a:ahLst/>
            <a:cxnLst/>
            <a:rect l="l" t="t" r="r" b="b"/>
            <a:pathLst>
              <a:path w="1828196" h="1828196">
                <a:moveTo>
                  <a:pt x="0" y="0"/>
                </a:moveTo>
                <a:lnTo>
                  <a:pt x="1828196" y="0"/>
                </a:lnTo>
                <a:lnTo>
                  <a:pt x="1828196" y="1828196"/>
                </a:lnTo>
                <a:lnTo>
                  <a:pt x="0" y="1828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6FC64D-DBAD-BC2F-177A-31D550045B3F}"/>
              </a:ext>
            </a:extLst>
          </p:cNvPr>
          <p:cNvSpPr txBox="1"/>
          <p:nvPr/>
        </p:nvSpPr>
        <p:spPr>
          <a:xfrm>
            <a:off x="2971800" y="3162301"/>
            <a:ext cx="141732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3600" b="1" u="sng" dirty="0">
                <a:latin typeface="+mj-lt"/>
              </a:rPr>
              <a:t>THE MAIN OBJECTIVES ARE </a:t>
            </a:r>
            <a:r>
              <a:rPr lang="en-US" sz="3600" b="1" dirty="0">
                <a:latin typeface="+mj-lt"/>
              </a:rPr>
              <a:t>:</a:t>
            </a:r>
            <a:r>
              <a:rPr lang="en-US" altLang="en-US" sz="3600" dirty="0">
                <a:solidFill>
                  <a:schemeClr val="tx1"/>
                </a:solidFill>
                <a:latin typeface="+mj-lt"/>
              </a:rPr>
              <a:t>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3600" dirty="0">
              <a:solidFill>
                <a:schemeClr val="tx1"/>
              </a:solidFill>
              <a:latin typeface="+mj-lt"/>
            </a:endParaRPr>
          </a:p>
          <a:p>
            <a:pPr marL="571500" indent="-5715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chemeClr val="tx1"/>
                </a:solidFill>
                <a:latin typeface="+mj-lt"/>
              </a:rPr>
              <a:t>Identify frequently purchased products and product categories. </a:t>
            </a:r>
          </a:p>
          <a:p>
            <a:pPr marL="571500" indent="-5715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chemeClr val="tx1"/>
                </a:solidFill>
                <a:latin typeface="+mj-lt"/>
              </a:rPr>
              <a:t>Analyze customer purchasing patterns using transaction data. </a:t>
            </a:r>
          </a:p>
          <a:p>
            <a:pPr marL="571500" indent="-5715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chemeClr val="tx1"/>
                </a:solidFill>
                <a:latin typeface="+mj-lt"/>
              </a:rPr>
              <a:t>Discover relationships between products using association rules. </a:t>
            </a:r>
          </a:p>
          <a:p>
            <a:pPr marL="571500" indent="-5715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chemeClr val="tx1"/>
                </a:solidFill>
                <a:latin typeface="+mj-lt"/>
              </a:rPr>
              <a:t>Analyze sales performance across different categories and products. </a:t>
            </a:r>
          </a:p>
          <a:p>
            <a:pPr marL="571500" indent="-5715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chemeClr val="tx1"/>
                </a:solidFill>
                <a:latin typeface="+mj-lt"/>
              </a:rPr>
              <a:t>Use purchasing insights to improve store layout and product placement</a:t>
            </a:r>
            <a:endParaRPr lang="en-US" sz="4000" b="1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422448" y="923093"/>
            <a:ext cx="8840169" cy="118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29"/>
              </a:lnSpc>
              <a:spcBef>
                <a:spcPct val="0"/>
              </a:spcBef>
            </a:pPr>
            <a:r>
              <a:rPr lang="en-US" sz="65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Scope of the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830326-9244-16C5-6A34-4705E606B26E}"/>
              </a:ext>
            </a:extLst>
          </p:cNvPr>
          <p:cNvSpPr txBox="1"/>
          <p:nvPr/>
        </p:nvSpPr>
        <p:spPr>
          <a:xfrm>
            <a:off x="2814183" y="4095267"/>
            <a:ext cx="2743200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3000"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E1DB79-15BB-6F2F-0375-592D6A14D9B3}"/>
              </a:ext>
            </a:extLst>
          </p:cNvPr>
          <p:cNvSpPr txBox="1"/>
          <p:nvPr/>
        </p:nvSpPr>
        <p:spPr>
          <a:xfrm>
            <a:off x="1066800" y="3314700"/>
            <a:ext cx="172212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 err="1"/>
              <a:t>Analyze</a:t>
            </a:r>
            <a:r>
              <a:rPr lang="en-IN" sz="4000" dirty="0"/>
              <a:t> retail transaction data.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/>
              <a:t>Identify frequently purchased products.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/>
              <a:t>Find products commonly purchased together.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 err="1"/>
              <a:t>Analyze</a:t>
            </a:r>
            <a:r>
              <a:rPr lang="en-IN" sz="4000" dirty="0"/>
              <a:t> product and category purchasing patterns.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/>
              <a:t>Generate insights for product placement.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dirty="0"/>
              <a:t>Support supermarket layout optimization.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422448" y="923093"/>
            <a:ext cx="8840169" cy="118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29"/>
              </a:lnSpc>
              <a:spcBef>
                <a:spcPct val="0"/>
              </a:spcBef>
            </a:pPr>
            <a:r>
              <a:rPr lang="en-US" sz="65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Description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06709" y="3231254"/>
            <a:ext cx="13671491" cy="5463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b="1" dirty="0">
                <a:latin typeface="Calibri (Headings)"/>
              </a:rPr>
              <a:t>Dataset:</a:t>
            </a:r>
            <a:r>
              <a:rPr lang="en-IN" sz="4000" dirty="0">
                <a:latin typeface="Calibri (Headings)"/>
              </a:rPr>
              <a:t> Retail Store Sales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b="1" dirty="0">
                <a:latin typeface="Calibri (Headings)"/>
              </a:rPr>
              <a:t>Source:</a:t>
            </a:r>
            <a:r>
              <a:rPr lang="en-IN" sz="4000" dirty="0">
                <a:latin typeface="Calibri (Headings)"/>
              </a:rPr>
              <a:t> Kaggle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b="1" dirty="0">
                <a:latin typeface="Calibri (Headings)"/>
              </a:rPr>
              <a:t>Number of Records:</a:t>
            </a:r>
            <a:r>
              <a:rPr lang="en-IN" sz="4000" dirty="0">
                <a:latin typeface="Calibri (Headings)"/>
              </a:rPr>
              <a:t> 12,575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b="1" dirty="0">
                <a:latin typeface="Calibri (Headings)"/>
              </a:rPr>
              <a:t>Number of Features:</a:t>
            </a:r>
            <a:r>
              <a:rPr lang="en-IN" sz="4000" dirty="0">
                <a:latin typeface="Calibri (Headings)"/>
              </a:rPr>
              <a:t> 11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b="1" dirty="0">
                <a:latin typeface="Calibri (Headings)"/>
              </a:rPr>
              <a:t>Data Type:</a:t>
            </a:r>
            <a:r>
              <a:rPr lang="en-IN" sz="4000" dirty="0">
                <a:latin typeface="Calibri (Headings)"/>
              </a:rPr>
              <a:t> Structured data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b="1" dirty="0">
                <a:latin typeface="Calibri (Headings)"/>
              </a:rPr>
              <a:t>Purpose:</a:t>
            </a:r>
            <a:br>
              <a:rPr lang="en-IN" sz="4000" dirty="0">
                <a:latin typeface="Calibri (Headings)"/>
              </a:rPr>
            </a:br>
            <a:r>
              <a:rPr lang="en-IN" sz="4000" dirty="0">
                <a:latin typeface="Calibri (Headings)"/>
              </a:rPr>
              <a:t>To </a:t>
            </a:r>
            <a:r>
              <a:rPr lang="en-IN" sz="4000" dirty="0" err="1">
                <a:latin typeface="Calibri (Headings)"/>
              </a:rPr>
              <a:t>analyze</a:t>
            </a:r>
            <a:r>
              <a:rPr lang="en-IN" sz="4000" dirty="0">
                <a:latin typeface="Calibri (Headings)"/>
              </a:rPr>
              <a:t> retail sales and customer purchasing patterns.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b="1" dirty="0"/>
              <a:t>Target Variable</a:t>
            </a:r>
            <a:r>
              <a:rPr lang="en-IN" sz="4000" dirty="0"/>
              <a:t>: Not Applicable (N/A)</a:t>
            </a:r>
            <a:endParaRPr lang="en-IN" sz="4000" dirty="0">
              <a:latin typeface="Calibri (Headings)"/>
            </a:endParaRPr>
          </a:p>
          <a:p>
            <a:pPr marL="571500" indent="-571500" algn="l">
              <a:lnSpc>
                <a:spcPts val="4235"/>
              </a:lnSpc>
              <a:buFont typeface="Arial" panose="020B0604020202020204" pitchFamily="34" charset="0"/>
              <a:buChar char="•"/>
            </a:pPr>
            <a:endParaRPr lang="en-US" sz="4000" i="1" dirty="0">
              <a:solidFill>
                <a:srgbClr val="545454"/>
              </a:solidFill>
              <a:latin typeface="Calibri (Headings)"/>
              <a:ea typeface="Poppins Italics"/>
              <a:cs typeface="Poppins Italics"/>
              <a:sym typeface="Poppins Italic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589484" y="3326504"/>
            <a:ext cx="1561780" cy="1561780"/>
          </a:xfrm>
          <a:custGeom>
            <a:avLst/>
            <a:gdLst/>
            <a:ahLst/>
            <a:cxnLst/>
            <a:rect l="l" t="t" r="r" b="b"/>
            <a:pathLst>
              <a:path w="1561780" h="1561780">
                <a:moveTo>
                  <a:pt x="0" y="0"/>
                </a:moveTo>
                <a:lnTo>
                  <a:pt x="1561781" y="0"/>
                </a:lnTo>
                <a:lnTo>
                  <a:pt x="1561781" y="1561780"/>
                </a:lnTo>
                <a:lnTo>
                  <a:pt x="0" y="1561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Methodology(Process / Workflow)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19400" y="3467100"/>
            <a:ext cx="14414035" cy="5786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4000" b="1" dirty="0"/>
              <a:t>WEEK 1 – DATA COLLECTION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IN" sz="3200" dirty="0"/>
              <a:t>Selected the </a:t>
            </a:r>
            <a:r>
              <a:rPr lang="en-IN" sz="3200" b="1" dirty="0"/>
              <a:t>Retail Store Sales</a:t>
            </a:r>
            <a:r>
              <a:rPr lang="en-IN" sz="3200" dirty="0"/>
              <a:t> dataset from Kaggle. 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IN" sz="3200" dirty="0"/>
              <a:t>Collected </a:t>
            </a:r>
            <a:r>
              <a:rPr lang="en-IN" sz="3200" b="1" dirty="0"/>
              <a:t>12,575 retail transaction records</a:t>
            </a:r>
            <a:r>
              <a:rPr lang="en-IN" sz="3200" dirty="0"/>
              <a:t>. 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IN" sz="3200" dirty="0"/>
              <a:t>Loaded the dataset using Python and Pandas. 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endParaRPr lang="en-IN" sz="3200" dirty="0"/>
          </a:p>
          <a:p>
            <a:r>
              <a:rPr lang="en-IN" sz="4000" b="1" dirty="0"/>
              <a:t>WEEK 2 – KNOW YOUR DATA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IN" sz="3200" dirty="0"/>
              <a:t>Inspected customer transaction and product information. 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IN" sz="3200" dirty="0"/>
              <a:t>Studied the products purchased in each transaction. 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IN" sz="3200" dirty="0" err="1"/>
              <a:t>Analyzed</a:t>
            </a:r>
            <a:r>
              <a:rPr lang="en-IN" sz="3200" dirty="0"/>
              <a:t> product and category information. 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IN" sz="3200" dirty="0"/>
              <a:t>Identified frequently occurring products.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4000" dirty="0">
              <a:latin typeface="Calibri (Headings)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339787" y="3086100"/>
            <a:ext cx="2066922" cy="2057400"/>
          </a:xfrm>
          <a:custGeom>
            <a:avLst/>
            <a:gdLst/>
            <a:ahLst/>
            <a:cxnLst/>
            <a:rect l="l" t="t" r="r" b="b"/>
            <a:pathLst>
              <a:path w="2066922" h="2057400">
                <a:moveTo>
                  <a:pt x="0" y="0"/>
                </a:moveTo>
                <a:lnTo>
                  <a:pt x="2066922" y="0"/>
                </a:lnTo>
                <a:lnTo>
                  <a:pt x="206692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078A80-962C-4603-4368-CDB6A7B66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95A135A-7F61-D203-74CB-88AC28EDD6DA}"/>
              </a:ext>
            </a:extLst>
          </p:cNvPr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83F736B-1663-6E44-51CE-CCAD49C775EA}"/>
                </a:ext>
              </a:extLst>
            </p:cNvPr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A0A962C-D226-024A-30F9-1AD49FD047B8}"/>
                </a:ext>
              </a:extLst>
            </p:cNvPr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F78AC972-A5EA-28A6-7683-BC1E5BEFAE95}"/>
              </a:ext>
            </a:extLst>
          </p:cNvPr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Methodology(Process / Workflow)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A610FD2-C892-B32A-317C-FB6ED6F2F260}"/>
              </a:ext>
            </a:extLst>
          </p:cNvPr>
          <p:cNvSpPr/>
          <p:nvPr/>
        </p:nvSpPr>
        <p:spPr>
          <a:xfrm>
            <a:off x="339787" y="3086100"/>
            <a:ext cx="2066922" cy="2057400"/>
          </a:xfrm>
          <a:custGeom>
            <a:avLst/>
            <a:gdLst/>
            <a:ahLst/>
            <a:cxnLst/>
            <a:rect l="l" t="t" r="r" b="b"/>
            <a:pathLst>
              <a:path w="2066922" h="2057400">
                <a:moveTo>
                  <a:pt x="0" y="0"/>
                </a:moveTo>
                <a:lnTo>
                  <a:pt x="2066922" y="0"/>
                </a:lnTo>
                <a:lnTo>
                  <a:pt x="206692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5BF601-F45B-5C6F-47EC-29BE57F00A6D}"/>
              </a:ext>
            </a:extLst>
          </p:cNvPr>
          <p:cNvSpPr txBox="1"/>
          <p:nvPr/>
        </p:nvSpPr>
        <p:spPr>
          <a:xfrm>
            <a:off x="2819399" y="3390899"/>
            <a:ext cx="14414035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b="1" dirty="0"/>
              <a:t>WEEK 3 – DATA PREPROCESSING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sz="3200" dirty="0"/>
              <a:t>Cleaned the retail transaction data.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sz="3200" dirty="0"/>
              <a:t>Separated multiple products into individual items.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sz="3200" dirty="0"/>
              <a:t>Handled unusually large or bulk transactions.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sz="3200" dirty="0"/>
              <a:t>Prepared transactions for Market Basket Analysis.</a:t>
            </a:r>
            <a:r>
              <a:rPr lang="en-IN" sz="36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3600" dirty="0"/>
          </a:p>
          <a:p>
            <a:pPr>
              <a:buNone/>
            </a:pPr>
            <a:r>
              <a:rPr lang="en-IN" sz="4000" b="1" dirty="0"/>
              <a:t>WEEK 4 – EXPLORATORY DATA ANALYSIS (EDA)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sz="3200" dirty="0" err="1"/>
              <a:t>Analyzed</a:t>
            </a:r>
            <a:r>
              <a:rPr lang="en-IN" sz="3200" dirty="0"/>
              <a:t> product purchase frequency.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sz="3200" dirty="0"/>
              <a:t>Identified frequently purchased products and categories.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sz="3200" dirty="0"/>
              <a:t>Studied products commonly purchased together.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sz="3200" dirty="0"/>
              <a:t>Visualized purchasing patterns using graphs.</a:t>
            </a:r>
          </a:p>
        </p:txBody>
      </p:sp>
    </p:spTree>
    <p:extLst>
      <p:ext uri="{BB962C8B-B14F-4D97-AF65-F5344CB8AC3E}">
        <p14:creationId xmlns:p14="http://schemas.microsoft.com/office/powerpoint/2010/main" val="3854154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57287" y="3118147"/>
            <a:ext cx="1765895" cy="2312481"/>
          </a:xfrm>
          <a:custGeom>
            <a:avLst/>
            <a:gdLst/>
            <a:ahLst/>
            <a:cxnLst/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 From Workflow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99F583A-C223-8982-C1D9-66F430F84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295249"/>
              </p:ext>
            </p:extLst>
          </p:nvPr>
        </p:nvGraphicFramePr>
        <p:xfrm>
          <a:off x="2514600" y="3118147"/>
          <a:ext cx="15214220" cy="65920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05600">
                  <a:extLst>
                    <a:ext uri="{9D8B030D-6E8A-4147-A177-3AD203B41FA5}">
                      <a16:colId xmlns:a16="http://schemas.microsoft.com/office/drawing/2014/main" val="1034926405"/>
                    </a:ext>
                  </a:extLst>
                </a:gridCol>
                <a:gridCol w="8508620">
                  <a:extLst>
                    <a:ext uri="{9D8B030D-6E8A-4147-A177-3AD203B41FA5}">
                      <a16:colId xmlns:a16="http://schemas.microsoft.com/office/drawing/2014/main" val="2491319287"/>
                    </a:ext>
                  </a:extLst>
                </a:gridCol>
              </a:tblGrid>
              <a:tr h="561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WEEK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498694"/>
                  </a:ext>
                </a:extLst>
              </a:tr>
              <a:tr h="1402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WEEK 1 – DATA COLLECTION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Retail Store Sales dataset collected from Kaggle with 12,575 records and 11 features.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5136901"/>
                  </a:ext>
                </a:extLst>
              </a:tr>
              <a:tr h="1402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WEEK 2 – DATA INSPECTION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Dataset structure and product transaction information were inspected and understood.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4162610"/>
                  </a:ext>
                </a:extLst>
              </a:tr>
              <a:tr h="1402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WEEK 3 – DATA PREPROCESSING &amp; OUTLIER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Transaction data was cleaned and prepared. Unusually large transactions were identified and handled.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9499185"/>
                  </a:ext>
                </a:extLst>
              </a:tr>
              <a:tr h="1823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WEEK 4 – EDA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Product frequencies and purchasing patterns were </a:t>
                      </a:r>
                      <a:r>
                        <a:rPr lang="en-IN" sz="2800" dirty="0" err="1"/>
                        <a:t>analyzed</a:t>
                      </a:r>
                      <a:r>
                        <a:rPr lang="en-IN" sz="2800" dirty="0"/>
                        <a:t> and visualized. Frequently purchased products and combinations were identified.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375718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438400" y="3238499"/>
            <a:ext cx="14478001" cy="6647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600" b="1" dirty="0"/>
              <a:t>1.PURCHASE ANALYSIS</a:t>
            </a:r>
            <a:endParaRPr lang="en-IN" sz="3600" dirty="0"/>
          </a:p>
          <a:p>
            <a:pPr marL="1943100" lvl="3" indent="-571500">
              <a:buFont typeface="Arial" panose="020B0604020202020204" pitchFamily="34" charset="0"/>
              <a:buChar char="•"/>
            </a:pPr>
            <a:r>
              <a:rPr lang="en-IN" sz="3600" dirty="0" err="1"/>
              <a:t>Analyze</a:t>
            </a:r>
            <a:r>
              <a:rPr lang="en-IN" sz="3600" dirty="0"/>
              <a:t> product purchase frequency. </a:t>
            </a:r>
          </a:p>
          <a:p>
            <a:pPr marL="1943100" lvl="3" indent="-571500">
              <a:buFont typeface="Arial" panose="020B0604020202020204" pitchFamily="34" charset="0"/>
              <a:buChar char="•"/>
            </a:pPr>
            <a:r>
              <a:rPr lang="en-IN" sz="3600" dirty="0"/>
              <a:t>Identify frequently purchased products and categories.</a:t>
            </a:r>
          </a:p>
          <a:p>
            <a:pPr lvl="0"/>
            <a:r>
              <a:rPr lang="en-IN" sz="3600" dirty="0"/>
              <a:t> </a:t>
            </a:r>
          </a:p>
          <a:p>
            <a:r>
              <a:rPr lang="en-IN" sz="3600" b="1" dirty="0"/>
              <a:t>2.PRODUCT RELATIONSHIP ANALYSIS</a:t>
            </a:r>
            <a:endParaRPr lang="en-IN" sz="3600" dirty="0"/>
          </a:p>
          <a:p>
            <a:pPr marL="1943100" lvl="3" indent="-571500">
              <a:buFont typeface="Arial" panose="020B0604020202020204" pitchFamily="34" charset="0"/>
              <a:buChar char="•"/>
            </a:pPr>
            <a:r>
              <a:rPr lang="en-IN" sz="3600" dirty="0"/>
              <a:t>Identify products commonly purchased together. </a:t>
            </a:r>
          </a:p>
          <a:p>
            <a:pPr marL="1943100" lvl="3" indent="-571500">
              <a:buFont typeface="Arial" panose="020B0604020202020204" pitchFamily="34" charset="0"/>
              <a:buChar char="•"/>
            </a:pPr>
            <a:r>
              <a:rPr lang="en-IN" sz="3600" dirty="0" err="1"/>
              <a:t>Analyze</a:t>
            </a:r>
            <a:r>
              <a:rPr lang="en-IN" sz="3600" dirty="0"/>
              <a:t> product purchasing patterns. </a:t>
            </a:r>
          </a:p>
          <a:p>
            <a:pPr lvl="0"/>
            <a:endParaRPr lang="en-IN" sz="3600" dirty="0"/>
          </a:p>
          <a:p>
            <a:r>
              <a:rPr lang="en-IN" sz="3600" b="1" dirty="0"/>
              <a:t>3.KEY INSIGHTS</a:t>
            </a:r>
            <a:endParaRPr lang="en-IN" sz="3600" dirty="0"/>
          </a:p>
          <a:p>
            <a:pPr marL="1943100" lvl="3" indent="-571500">
              <a:buFont typeface="Arial" panose="020B0604020202020204" pitchFamily="34" charset="0"/>
              <a:buChar char="•"/>
            </a:pPr>
            <a:r>
              <a:rPr lang="en-IN" sz="3600" dirty="0"/>
              <a:t>Frequently purchased products can be identified. </a:t>
            </a:r>
          </a:p>
          <a:p>
            <a:pPr marL="1943100" lvl="3" indent="-571500">
              <a:buFont typeface="Arial" panose="020B0604020202020204" pitchFamily="34" charset="0"/>
              <a:buChar char="•"/>
            </a:pPr>
            <a:r>
              <a:rPr lang="en-IN" sz="3600" dirty="0"/>
              <a:t>Common product combinations can support better product placement.</a:t>
            </a:r>
          </a:p>
        </p:txBody>
      </p:sp>
      <p:sp>
        <p:nvSpPr>
          <p:cNvPr id="6" name="Freeform 6"/>
          <p:cNvSpPr/>
          <p:nvPr/>
        </p:nvSpPr>
        <p:spPr>
          <a:xfrm>
            <a:off x="457287" y="3118147"/>
            <a:ext cx="1765895" cy="2312481"/>
          </a:xfrm>
          <a:custGeom>
            <a:avLst/>
            <a:gdLst/>
            <a:ahLst/>
            <a:cxnLst/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 From Workflow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62279" y="3424008"/>
            <a:ext cx="2201327" cy="1929163"/>
          </a:xfrm>
          <a:custGeom>
            <a:avLst/>
            <a:gdLst/>
            <a:ahLst/>
            <a:cxnLst/>
            <a:rect l="l" t="t" r="r" b="b"/>
            <a:pathLst>
              <a:path w="2201327" h="1929163">
                <a:moveTo>
                  <a:pt x="0" y="0"/>
                </a:moveTo>
                <a:lnTo>
                  <a:pt x="2201327" y="0"/>
                </a:lnTo>
                <a:lnTo>
                  <a:pt x="2201327" y="1929163"/>
                </a:lnTo>
                <a:lnTo>
                  <a:pt x="0" y="19291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2590800" y="3044210"/>
            <a:ext cx="16078199" cy="68422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200" b="1" dirty="0"/>
              <a:t>1</a:t>
            </a:r>
            <a:r>
              <a:rPr lang="en-IN" sz="3600" b="1" dirty="0"/>
              <a:t>. PRODUCT INSIGHTS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IN" sz="3600" dirty="0"/>
              <a:t>Identify frequently purchased products. 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IN" sz="3600" dirty="0"/>
              <a:t>Identify popular product categories. </a:t>
            </a:r>
          </a:p>
          <a:p>
            <a:pPr lvl="0"/>
            <a:endParaRPr lang="en-IN" sz="3600" dirty="0"/>
          </a:p>
          <a:p>
            <a:r>
              <a:rPr lang="en-IN" sz="3600" b="1" dirty="0"/>
              <a:t>2. PRODUCT RELATIONSHIPS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IN" sz="3600" dirty="0"/>
              <a:t>Discover products commonly purchased together. 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IN" sz="3600" dirty="0"/>
              <a:t>Generate frequent </a:t>
            </a:r>
            <a:r>
              <a:rPr lang="en-IN" sz="3600" dirty="0" err="1"/>
              <a:t>itemsets</a:t>
            </a:r>
            <a:r>
              <a:rPr lang="en-IN" sz="3600" dirty="0"/>
              <a:t> using </a:t>
            </a:r>
            <a:r>
              <a:rPr lang="en-IN" sz="3600" dirty="0" err="1"/>
              <a:t>Apriori</a:t>
            </a:r>
            <a:r>
              <a:rPr lang="en-IN" sz="3600" dirty="0"/>
              <a:t>. </a:t>
            </a:r>
          </a:p>
          <a:p>
            <a:pPr lvl="0"/>
            <a:endParaRPr lang="en-IN" sz="3600" dirty="0"/>
          </a:p>
          <a:p>
            <a:r>
              <a:rPr lang="en-IN" sz="3600" b="1" dirty="0"/>
              <a:t>3. BUSINESS INSIGHTS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IN" sz="3600" dirty="0"/>
              <a:t>Identify strong association rules. 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IN" sz="3600" dirty="0"/>
              <a:t>Support better product placement. 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IN" sz="3600" dirty="0"/>
              <a:t>Suggest improvements for supermarket layout.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Expected Final 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03816" y="3187394"/>
            <a:ext cx="2395573" cy="2260550"/>
          </a:xfrm>
          <a:custGeom>
            <a:avLst/>
            <a:gdLst/>
            <a:ahLst/>
            <a:cxnLst/>
            <a:rect l="l" t="t" r="r" b="b"/>
            <a:pathLst>
              <a:path w="2395573" h="2260550">
                <a:moveTo>
                  <a:pt x="0" y="0"/>
                </a:moveTo>
                <a:lnTo>
                  <a:pt x="2395573" y="0"/>
                </a:lnTo>
                <a:lnTo>
                  <a:pt x="2395573" y="2260550"/>
                </a:lnTo>
                <a:lnTo>
                  <a:pt x="0" y="2260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380168"/>
              </p:ext>
            </p:extLst>
          </p:nvPr>
        </p:nvGraphicFramePr>
        <p:xfrm>
          <a:off x="2986755" y="2930227"/>
          <a:ext cx="13339985" cy="4513257"/>
        </p:xfrm>
        <a:graphic>
          <a:graphicData uri="http://schemas.openxmlformats.org/drawingml/2006/table">
            <a:tbl>
              <a:tblPr/>
              <a:tblGrid>
                <a:gridCol w="7111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87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6107">
                <a:tc>
                  <a:txBody>
                    <a:bodyPr/>
                    <a:lstStyle/>
                    <a:p>
                      <a:pPr algn="ctr">
                        <a:lnSpc>
                          <a:spcPts val="5039"/>
                        </a:lnSpc>
                        <a:defRPr/>
                      </a:pPr>
                      <a:r>
                        <a:rPr lang="en-US" sz="35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Team Member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Roles &amp; Responsibilities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781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3200" dirty="0"/>
                        <a:t>DEEBIKA M 25BAD018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3200" dirty="0"/>
                        <a:t>DATA ENGINEER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9123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3200" dirty="0"/>
                        <a:t>ARIHARAN S 25BAD011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3200" dirty="0"/>
                        <a:t>DATA ANALYST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246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3200" dirty="0"/>
                        <a:t>HEMANTH M 25BAD037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3200" dirty="0"/>
                        <a:t>VISUALIZATION EXPERT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Roles &amp; Responsibilities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33934" y="3093509"/>
            <a:ext cx="2249599" cy="2229148"/>
          </a:xfrm>
          <a:custGeom>
            <a:avLst/>
            <a:gdLst/>
            <a:ahLst/>
            <a:cxnLst/>
            <a:rect l="l" t="t" r="r" b="b"/>
            <a:pathLst>
              <a:path w="2249599" h="2229148">
                <a:moveTo>
                  <a:pt x="0" y="0"/>
                </a:moveTo>
                <a:lnTo>
                  <a:pt x="2249598" y="0"/>
                </a:lnTo>
                <a:lnTo>
                  <a:pt x="2249598" y="2229148"/>
                </a:lnTo>
                <a:lnTo>
                  <a:pt x="0" y="22291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2819399" y="3467100"/>
            <a:ext cx="14909421" cy="4240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lvl="0" indent="-742950">
              <a:buFont typeface="Arial" panose="020B0604020202020204" pitchFamily="34" charset="0"/>
              <a:buChar char="•"/>
            </a:pPr>
            <a:r>
              <a:rPr lang="en-IN" sz="4000" dirty="0"/>
              <a:t>Cleaning transaction data. </a:t>
            </a:r>
          </a:p>
          <a:p>
            <a:pPr marL="742950" lvl="0" indent="-742950">
              <a:buFont typeface="Arial" panose="020B0604020202020204" pitchFamily="34" charset="0"/>
              <a:buChar char="•"/>
            </a:pPr>
            <a:r>
              <a:rPr lang="en-IN" sz="4000" dirty="0"/>
              <a:t>Separating multiple products in a transaction. </a:t>
            </a:r>
          </a:p>
          <a:p>
            <a:pPr marL="742950" lvl="0" indent="-742950">
              <a:buFont typeface="Arial" panose="020B0604020202020204" pitchFamily="34" charset="0"/>
              <a:buChar char="•"/>
            </a:pPr>
            <a:r>
              <a:rPr lang="en-IN" sz="4000" dirty="0"/>
              <a:t>Handling unusually large or bulk transactions. </a:t>
            </a:r>
          </a:p>
          <a:p>
            <a:pPr marL="742950" lvl="0" indent="-742950">
              <a:buFont typeface="Arial" panose="020B0604020202020204" pitchFamily="34" charset="0"/>
              <a:buChar char="•"/>
            </a:pPr>
            <a:r>
              <a:rPr lang="en-IN" sz="4000" dirty="0"/>
              <a:t>Identifying meaningful product combinations. </a:t>
            </a:r>
          </a:p>
          <a:p>
            <a:pPr marL="742950" lvl="0" indent="-742950">
              <a:buFont typeface="Arial" panose="020B0604020202020204" pitchFamily="34" charset="0"/>
              <a:buChar char="•"/>
            </a:pPr>
            <a:r>
              <a:rPr lang="en-IN" sz="4000" dirty="0"/>
              <a:t>Generating and interpreting association rules. </a:t>
            </a:r>
          </a:p>
          <a:p>
            <a:pPr marL="742950" lvl="0" indent="-742950">
              <a:buFont typeface="Arial" panose="020B0604020202020204" pitchFamily="34" charset="0"/>
              <a:buChar char="•"/>
            </a:pPr>
            <a:r>
              <a:rPr lang="en-IN" sz="4000" dirty="0"/>
              <a:t>Presenting product relationships clearly through visualizations.</a:t>
            </a:r>
          </a:p>
          <a:p>
            <a:pPr marL="742950" indent="-742950" algn="l">
              <a:lnSpc>
                <a:spcPts val="4235"/>
              </a:lnSpc>
              <a:buFont typeface="Arial" panose="020B0604020202020204" pitchFamily="34" charset="0"/>
              <a:buChar char="•"/>
            </a:pPr>
            <a:endParaRPr lang="en-US" sz="4000" i="1" dirty="0">
              <a:solidFill>
                <a:srgbClr val="545454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Challenges Faced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29502" y="3093509"/>
            <a:ext cx="2186679" cy="2434562"/>
          </a:xfrm>
          <a:custGeom>
            <a:avLst/>
            <a:gdLst/>
            <a:ahLst/>
            <a:cxnLst/>
            <a:rect l="l" t="t" r="r" b="b"/>
            <a:pathLst>
              <a:path w="2186679" h="2434562">
                <a:moveTo>
                  <a:pt x="0" y="0"/>
                </a:moveTo>
                <a:lnTo>
                  <a:pt x="2186679" y="0"/>
                </a:lnTo>
                <a:lnTo>
                  <a:pt x="2186679" y="2434562"/>
                </a:lnTo>
                <a:lnTo>
                  <a:pt x="0" y="24345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054565" y="985640"/>
            <a:ext cx="16178870" cy="1009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Work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7A09CF-AAB2-FDB7-AFD8-91E353617375}"/>
              </a:ext>
            </a:extLst>
          </p:cNvPr>
          <p:cNvSpPr txBox="1"/>
          <p:nvPr/>
        </p:nvSpPr>
        <p:spPr>
          <a:xfrm>
            <a:off x="2895600" y="3390900"/>
            <a:ext cx="134112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0" indent="-742950">
              <a:buFont typeface="+mj-lt"/>
              <a:buAutoNum type="arabicPeriod"/>
            </a:pPr>
            <a:r>
              <a:rPr lang="en-IN" sz="4000" dirty="0"/>
              <a:t>Apply FP-Growth for faster association analysis. </a:t>
            </a:r>
          </a:p>
          <a:p>
            <a:pPr marL="742950" lvl="0" indent="-742950">
              <a:buFont typeface="+mj-lt"/>
              <a:buAutoNum type="arabicPeriod"/>
            </a:pPr>
            <a:r>
              <a:rPr lang="en-IN" sz="4000" dirty="0"/>
              <a:t>Use customer segmentation for personalized recommendations. </a:t>
            </a:r>
          </a:p>
          <a:p>
            <a:pPr marL="742950" lvl="0" indent="-742950">
              <a:buFont typeface="+mj-lt"/>
              <a:buAutoNum type="arabicPeriod"/>
            </a:pPr>
            <a:r>
              <a:rPr lang="en-IN" sz="4000" dirty="0" err="1"/>
              <a:t>Analyze</a:t>
            </a:r>
            <a:r>
              <a:rPr lang="en-IN" sz="4000" dirty="0"/>
              <a:t> seasonal and time-based purchasing patterns. </a:t>
            </a:r>
          </a:p>
          <a:p>
            <a:pPr marL="742950" lvl="0" indent="-742950">
              <a:buFont typeface="+mj-lt"/>
              <a:buAutoNum type="arabicPeriod"/>
            </a:pPr>
            <a:r>
              <a:rPr lang="en-IN" sz="4000" dirty="0"/>
              <a:t>Develop personalized product recommendations. </a:t>
            </a:r>
          </a:p>
          <a:p>
            <a:pPr marL="742950" lvl="0" indent="-742950">
              <a:buFont typeface="+mj-lt"/>
              <a:buAutoNum type="arabicPeriod"/>
            </a:pPr>
            <a:r>
              <a:rPr lang="en-IN" sz="4000" dirty="0"/>
              <a:t>Integrate sales and customer </a:t>
            </a:r>
            <a:r>
              <a:rPr lang="en-IN" sz="4000" dirty="0" err="1"/>
              <a:t>behavior</a:t>
            </a:r>
            <a:r>
              <a:rPr lang="en-IN" sz="4000" dirty="0"/>
              <a:t> for targeted marketing. </a:t>
            </a:r>
          </a:p>
          <a:p>
            <a:pPr marL="742950" lvl="0" indent="-742950">
              <a:buFont typeface="+mj-lt"/>
              <a:buAutoNum type="arabicPeriod"/>
            </a:pPr>
            <a:r>
              <a:rPr lang="en-IN" sz="4000" dirty="0"/>
              <a:t>Develop a smart supermarket layout recommendation system. </a:t>
            </a:r>
          </a:p>
          <a:p>
            <a:pPr marL="742950" lvl="0" indent="-742950">
              <a:buFont typeface="+mj-lt"/>
              <a:buAutoNum type="arabicPeriod"/>
            </a:pPr>
            <a:r>
              <a:rPr lang="en-IN" sz="4000" dirty="0"/>
              <a:t>Build an interactive retail analytics dashboard.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81DB57-3801-6E83-A68B-8A4EA2ED1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B0D7208-E1B8-3C7E-5C7A-B2351C5F1B2E}"/>
              </a:ext>
            </a:extLst>
          </p:cNvPr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5E36F30-ED5C-3EF8-285B-76F3E76FBDDE}"/>
                </a:ext>
              </a:extLst>
            </p:cNvPr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3D6C63D-8D9C-7DE2-4F27-B1FFEC92FB7E}"/>
                </a:ext>
              </a:extLst>
            </p:cNvPr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5EBDDF46-7BFF-81F1-2147-F853E7EDB165}"/>
              </a:ext>
            </a:extLst>
          </p:cNvPr>
          <p:cNvSpPr/>
          <p:nvPr/>
        </p:nvSpPr>
        <p:spPr>
          <a:xfrm>
            <a:off x="229502" y="3093509"/>
            <a:ext cx="2186679" cy="2434562"/>
          </a:xfrm>
          <a:custGeom>
            <a:avLst/>
            <a:gdLst/>
            <a:ahLst/>
            <a:cxnLst/>
            <a:rect l="l" t="t" r="r" b="b"/>
            <a:pathLst>
              <a:path w="2186679" h="2434562">
                <a:moveTo>
                  <a:pt x="0" y="0"/>
                </a:moveTo>
                <a:lnTo>
                  <a:pt x="2186679" y="0"/>
                </a:lnTo>
                <a:lnTo>
                  <a:pt x="2186679" y="2434562"/>
                </a:lnTo>
                <a:lnTo>
                  <a:pt x="0" y="24345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D0488EB-49C8-C381-87EA-AA1E8EB8744B}"/>
              </a:ext>
            </a:extLst>
          </p:cNvPr>
          <p:cNvSpPr txBox="1"/>
          <p:nvPr/>
        </p:nvSpPr>
        <p:spPr>
          <a:xfrm>
            <a:off x="1054565" y="985640"/>
            <a:ext cx="16178870" cy="1009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8904A-D4B2-8B4F-8E5B-0C6D3268BF7D}"/>
              </a:ext>
            </a:extLst>
          </p:cNvPr>
          <p:cNvSpPr txBox="1"/>
          <p:nvPr/>
        </p:nvSpPr>
        <p:spPr>
          <a:xfrm>
            <a:off x="2895600" y="3238500"/>
            <a:ext cx="137922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dirty="0"/>
              <a:t>Market Basket Analysis helps identify meaningful relationships between products purchased by customers.</a:t>
            </a:r>
          </a:p>
          <a:p>
            <a:pPr>
              <a:buNone/>
            </a:pPr>
            <a:endParaRPr lang="en-IN" sz="3600" dirty="0"/>
          </a:p>
          <a:p>
            <a:pPr>
              <a:buNone/>
            </a:pPr>
            <a:r>
              <a:rPr lang="en-IN" sz="3600" dirty="0"/>
              <a:t>By </a:t>
            </a:r>
            <a:r>
              <a:rPr lang="en-IN" sz="3600" dirty="0" err="1"/>
              <a:t>analyzing</a:t>
            </a:r>
            <a:r>
              <a:rPr lang="en-IN" sz="3600" dirty="0"/>
              <a:t> retail transaction data: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Frequently purchased products can be identified.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Product combinations can be discovered.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Customer purchasing </a:t>
            </a:r>
            <a:r>
              <a:rPr lang="en-IN" sz="3600" dirty="0" err="1"/>
              <a:t>behavior</a:t>
            </a:r>
            <a:r>
              <a:rPr lang="en-IN" sz="3600" dirty="0"/>
              <a:t> can be understood.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Product placement and cross-selling strategies can be supported.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600" dirty="0"/>
              <a:t>Supermarket layout can be improved using purchasing insights.</a:t>
            </a:r>
          </a:p>
        </p:txBody>
      </p:sp>
    </p:spTree>
    <p:extLst>
      <p:ext uri="{BB962C8B-B14F-4D97-AF65-F5344CB8AC3E}">
        <p14:creationId xmlns:p14="http://schemas.microsoft.com/office/powerpoint/2010/main" val="2515072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FF29ED-086D-3775-759A-FF21A5DD1204}"/>
              </a:ext>
            </a:extLst>
          </p:cNvPr>
          <p:cNvSpPr txBox="1"/>
          <p:nvPr/>
        </p:nvSpPr>
        <p:spPr>
          <a:xfrm>
            <a:off x="1676400" y="3467100"/>
            <a:ext cx="14478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hlinkClick r:id="rId2"/>
              </a:rPr>
              <a:t>https://github.com/Deebika-M-06/24ADI204__TEAM_10</a:t>
            </a:r>
            <a:endParaRPr lang="en-IN" sz="3200" dirty="0"/>
          </a:p>
          <a:p>
            <a:endParaRPr lang="en-IN" sz="3200" dirty="0"/>
          </a:p>
          <a:p>
            <a:r>
              <a:rPr lang="en-IN" sz="3200" dirty="0">
                <a:hlinkClick r:id="rId3"/>
              </a:rPr>
              <a:t>https://www.kaggle.com/datasets/ahmedmohamed2003/retail-store-sales-dirty-for-data-cleaning?utm_source=perplexity</a:t>
            </a:r>
            <a:endParaRPr lang="en-IN" sz="3200" dirty="0"/>
          </a:p>
          <a:p>
            <a:endParaRPr lang="en-IN" sz="3200" dirty="0"/>
          </a:p>
          <a:p>
            <a:r>
              <a:rPr lang="en-IN" sz="3200" dirty="0">
                <a:hlinkClick r:id="rId4"/>
              </a:rPr>
              <a:t>https://numpy.org/?utm_source=chatgpt.com</a:t>
            </a:r>
            <a:endParaRPr lang="en-IN" sz="3200" dirty="0"/>
          </a:p>
          <a:p>
            <a:endParaRPr lang="en-IN" sz="3200" dirty="0"/>
          </a:p>
          <a:p>
            <a:r>
              <a:rPr lang="en-IN" sz="3200" dirty="0">
                <a:hlinkClick r:id="rId5"/>
              </a:rPr>
              <a:t>https://pandas.pydata.org/?utm_source=chatgpt.com</a:t>
            </a:r>
            <a:endParaRPr lang="en-IN" sz="3200" dirty="0"/>
          </a:p>
          <a:p>
            <a:endParaRPr lang="en-IN" sz="3200" dirty="0"/>
          </a:p>
          <a:p>
            <a:endParaRPr lang="en-IN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230E0C5F7F31408C24F79FEC3547A8" ma:contentTypeVersion="30" ma:contentTypeDescription="Create a new document." ma:contentTypeScope="" ma:versionID="43aeafdb121866d4c41a050b1c0f9fb4">
  <xsd:schema xmlns:xsd="http://www.w3.org/2001/XMLSchema" xmlns:xs="http://www.w3.org/2001/XMLSchema" xmlns:p="http://schemas.microsoft.com/office/2006/metadata/properties" xmlns:ns2="f8f6405e-9d26-4665-a572-60b6287e955e" xmlns:ns3="75f1d1de-8b6f-4690-bd7e-4a7619080584" targetNamespace="http://schemas.microsoft.com/office/2006/metadata/properties" ma:root="true" ma:fieldsID="a188b3ef85d914b1f0b5272ad37f5517" ns2:_="" ns3:_="">
    <xsd:import namespace="f8f6405e-9d26-4665-a572-60b6287e955e"/>
    <xsd:import namespace="75f1d1de-8b6f-4690-bd7e-4a7619080584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f6405e-9d26-4665-a572-60b6287e955e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34" nillable="true" ma:taxonomy="true" ma:internalName="lcf76f155ced4ddcb4097134ff3c332f" ma:taxonomyFieldName="MediaServiceImageTags" ma:displayName="Image Tags" ma:readOnly="false" ma:fieldId="{5cf76f15-5ced-4ddc-b409-7134ff3c332f}" ma:taxonomyMulti="true" ma:sspId="6ea1b0d9-6ead-405e-a20d-02fb1ff691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3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f1d1de-8b6f-4690-bd7e-4a7619080584" elementFormDefault="qualified">
    <xsd:import namespace="http://schemas.microsoft.com/office/2006/documentManagement/types"/>
    <xsd:import namespace="http://schemas.microsoft.com/office/infopath/2007/PartnerControls"/>
    <xsd:element name="TaxCatchAll" ma:index="35" nillable="true" ma:displayName="Taxonomy Catch All Column" ma:hidden="true" ma:list="{38ee401d-fe31-4260-9afb-a78595968dbb}" ma:internalName="TaxCatchAll" ma:showField="CatchAllData" ma:web="75f1d1de-8b6f-4690-bd7e-4a76190805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8f6405e-9d26-4665-a572-60b6287e955e">
      <Terms xmlns="http://schemas.microsoft.com/office/infopath/2007/PartnerControls"/>
    </lcf76f155ced4ddcb4097134ff3c332f>
    <TaxCatchAll xmlns="75f1d1de-8b6f-4690-bd7e-4a7619080584" xsi:nil="true"/>
    <Self_Registration_Enabled xmlns="f8f6405e-9d26-4665-a572-60b6287e955e" xsi:nil="true"/>
    <Teachers xmlns="f8f6405e-9d26-4665-a572-60b6287e955e">
      <UserInfo>
        <DisplayName/>
        <AccountId xsi:nil="true"/>
        <AccountType/>
      </UserInfo>
    </Teachers>
    <Distribution_Groups xmlns="f8f6405e-9d26-4665-a572-60b6287e955e" xsi:nil="true"/>
    <Invited_Teachers xmlns="f8f6405e-9d26-4665-a572-60b6287e955e" xsi:nil="true"/>
    <IsNotebookLocked xmlns="f8f6405e-9d26-4665-a572-60b6287e955e" xsi:nil="true"/>
    <Is_Collaboration_Space_Locked xmlns="f8f6405e-9d26-4665-a572-60b6287e955e" xsi:nil="true"/>
    <Templates xmlns="f8f6405e-9d26-4665-a572-60b6287e955e" xsi:nil="true"/>
    <Has_Teacher_Only_SectionGroup xmlns="f8f6405e-9d26-4665-a572-60b6287e955e" xsi:nil="true"/>
    <FolderType xmlns="f8f6405e-9d26-4665-a572-60b6287e955e" xsi:nil="true"/>
    <CultureName xmlns="f8f6405e-9d26-4665-a572-60b6287e955e" xsi:nil="true"/>
    <LMS_Mappings xmlns="f8f6405e-9d26-4665-a572-60b6287e955e" xsi:nil="true"/>
    <NotebookType xmlns="f8f6405e-9d26-4665-a572-60b6287e955e" xsi:nil="true"/>
    <Teams_Channel_Section_Location xmlns="f8f6405e-9d26-4665-a572-60b6287e955e" xsi:nil="true"/>
    <Math_Settings xmlns="f8f6405e-9d26-4665-a572-60b6287e955e" xsi:nil="true"/>
    <Owner xmlns="f8f6405e-9d26-4665-a572-60b6287e955e">
      <UserInfo>
        <DisplayName/>
        <AccountId xsi:nil="true"/>
        <AccountType/>
      </UserInfo>
    </Owner>
    <Students xmlns="f8f6405e-9d26-4665-a572-60b6287e955e">
      <UserInfo>
        <DisplayName/>
        <AccountId xsi:nil="true"/>
        <AccountType/>
      </UserInfo>
    </Students>
    <Student_Groups xmlns="f8f6405e-9d26-4665-a572-60b6287e955e">
      <UserInfo>
        <DisplayName/>
        <AccountId xsi:nil="true"/>
        <AccountType/>
      </UserInfo>
    </Student_Groups>
    <AppVersion xmlns="f8f6405e-9d26-4665-a572-60b6287e955e" xsi:nil="true"/>
    <TeamsChannelId xmlns="f8f6405e-9d26-4665-a572-60b6287e955e" xsi:nil="true"/>
    <Invited_Students xmlns="f8f6405e-9d26-4665-a572-60b6287e955e" xsi:nil="true"/>
    <DefaultSectionNames xmlns="f8f6405e-9d26-4665-a572-60b6287e955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FDA871-35C3-49FC-BE2F-8D9ECBCC2D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f6405e-9d26-4665-a572-60b6287e955e"/>
    <ds:schemaRef ds:uri="75f1d1de-8b6f-4690-bd7e-4a76190805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578F222-1B32-4B85-AB90-876A769BC140}">
  <ds:schemaRefs>
    <ds:schemaRef ds:uri="http://schemas.microsoft.com/office/2006/metadata/properties"/>
    <ds:schemaRef ds:uri="http://schemas.microsoft.com/office/infopath/2007/PartnerControls"/>
    <ds:schemaRef ds:uri="d75b73e7-722c-4013-b0ab-557461f00139"/>
    <ds:schemaRef ds:uri="123cd861-5ec8-471f-a092-4a549bd61773"/>
    <ds:schemaRef ds:uri="f8f6405e-9d26-4665-a572-60b6287e955e"/>
    <ds:schemaRef ds:uri="75f1d1de-8b6f-4690-bd7e-4a7619080584"/>
  </ds:schemaRefs>
</ds:datastoreItem>
</file>

<file path=customXml/itemProps3.xml><?xml version="1.0" encoding="utf-8"?>
<ds:datastoreItem xmlns:ds="http://schemas.openxmlformats.org/officeDocument/2006/customXml" ds:itemID="{933E3D7C-5C3D-4B60-9674-3050C6F34F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805</Words>
  <Application>Microsoft Office PowerPoint</Application>
  <PresentationFormat>Custom</PresentationFormat>
  <Paragraphs>136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Poppins</vt:lpstr>
      <vt:lpstr>Times New Roman</vt:lpstr>
      <vt:lpstr>Calibri (Headings)</vt:lpstr>
      <vt:lpstr>Poppins Bold</vt:lpstr>
      <vt:lpstr>Arial</vt:lpstr>
      <vt:lpstr>Times New Roman Bold</vt:lpstr>
      <vt:lpstr>Poppins Bold Italics</vt:lpstr>
      <vt:lpstr>Calibri</vt:lpstr>
      <vt:lpstr>Poppins Italics</vt:lpstr>
      <vt:lpstr>Office Theme</vt:lpstr>
      <vt:lpstr>  TEAM MEMBERS:  ARIHARAN S       - 25BAD011 DEEBIKA M          -25BAD018 HEMANTH M        -25BAD037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and Visualization 24ADI204</dc:title>
  <dc:creator>Ritika Mahalingam</dc:creator>
  <cp:lastModifiedBy>Ritika Mahalingam</cp:lastModifiedBy>
  <cp:revision>101</cp:revision>
  <dcterms:created xsi:type="dcterms:W3CDTF">2006-08-16T00:00:00Z</dcterms:created>
  <dcterms:modified xsi:type="dcterms:W3CDTF">2026-09-25T03:31:50Z</dcterms:modified>
  <dc:identifier>DAHC23RksKI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0x0101004F230E0C5F7F31408C24F79FEC3547A8</vt:lpwstr>
  </property>
  <property fmtid="{D5CDD505-2E9C-101B-9397-08002B2CF9AE}" pid="3" name="MediaServiceImageTags">
    <vt:lpwstr/>
  </property>
</Properties>
</file>